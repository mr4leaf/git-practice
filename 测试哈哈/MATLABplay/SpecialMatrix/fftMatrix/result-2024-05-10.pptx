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90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9BB2CF-0D3E-4B90-9757-A485213B9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AB34C40-37EF-42C5-9BCE-ED5584EFC7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1F2DA1-7564-4B6C-9638-DBA27D472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5C556-4A7D-48A3-A705-AA206DD6220E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71AB49-2CFE-4374-935B-1A25567BD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A2C2D4-517B-48D4-8ABF-00C4FBCB0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2D8DD-DEAD-4899-B902-1E5790776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809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E9AFB1-A9C0-4531-977C-6EB6A7C8B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1230C-EE41-41A7-8B02-2E2A39A8F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C50E72-5415-4874-8312-6B1A5BC63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5C556-4A7D-48A3-A705-AA206DD6220E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3D9D69-D255-4A5D-9D93-47ECB63E1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00688D-BDF9-4DA7-A2D3-52076B2B9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2D8DD-DEAD-4899-B902-1E5790776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542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2FA496-C051-4444-B5FE-CE42458FA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D9890C-5988-4E62-A24D-7932EE387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CB50AD-9D14-43CD-BA60-3E4D5023D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5C556-4A7D-48A3-A705-AA206DD6220E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F38B35-447E-4FFA-8054-08DCB1144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032D53-04C3-4369-84DB-BCA9637E9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2D8DD-DEAD-4899-B902-1E5790776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450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8018B-253E-457D-BE22-7D85280D1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0EE127-2521-46FE-BF03-639F63C541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22EB2E-C824-4998-8269-A3506E4CC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6D20A8-9F47-4EE3-BBBC-8F04BF8A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5C556-4A7D-48A3-A705-AA206DD6220E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F1019D-AC75-42C0-B5BD-D4FC36581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3BBED0-5D48-4DAE-A402-01A576BA0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2D8DD-DEAD-4899-B902-1E5790776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728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D79086-EF47-4016-ADB9-D5CF0888C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008B4B-0A86-4A3B-92C8-A572463EB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A6E960-E847-455D-9ED4-00B92D8FF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04E44BB-8713-4F26-B476-0B9203A84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605818-A255-45C0-9157-B8A36A460B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3EFF2C1-0528-4CDE-828C-48B21EAD4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5C556-4A7D-48A3-A705-AA206DD6220E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3A0E0E5-9156-4B8A-8901-545946EA5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5EBF431-A320-4080-8D43-5E7558C32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2D8DD-DEAD-4899-B902-1E5790776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301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AC1DBB-A5DE-4BF2-9125-AE8383EB0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139AA5-787A-4A27-9247-15D7E5A50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5C556-4A7D-48A3-A705-AA206DD6220E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B1FFE69-1354-4B8A-B1A9-FE8E5E4E4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A6F65C-A974-46FB-B396-E05B01E8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2D8DD-DEAD-4899-B902-1E5790776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812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4A0B4CA-4B2D-4491-B88B-6B108C8E4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5C556-4A7D-48A3-A705-AA206DD6220E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0D82E0F-4500-4E28-963C-DDB621C09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1E64FA-A919-490C-B5DB-E7012A11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2D8DD-DEAD-4899-B902-1E5790776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561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F49E6-0B02-498C-90C3-4ADD1B5E3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BAAF67-7524-49C9-BC59-F67945CDD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32E13C-50C4-4DB6-AD3E-F20729E46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503D14-DC0B-45D0-A2E1-5D0154B3A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5C556-4A7D-48A3-A705-AA206DD6220E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5A90CB-682A-4A48-BD4A-E12811508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B6D155-8B11-40F7-94F0-C25DEE223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2D8DD-DEAD-4899-B902-1E5790776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407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F5BBF1-C41C-4DFE-A1E5-8228F79D1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9D77BF5-8858-4F5A-A0C9-0A6BDAA9AA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93311F-573F-4821-9A89-776F47E4B4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B9CD88-5180-4ABA-88EA-6F5B095D3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5C556-4A7D-48A3-A705-AA206DD6220E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4D55BA-97A1-4F52-8340-1D3579D85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5D5C6C-22EE-41F7-8D7D-71996095D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2D8DD-DEAD-4899-B902-1E5790776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383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E66933-BE60-4C92-B774-632D66FD8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2C1572-2FB1-4D0A-8347-C75183B69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1204B5-9A5A-4EF5-8C64-1C41E0EA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5C556-4A7D-48A3-A705-AA206DD6220E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D0902A-09A6-4C59-8CA9-BDB108558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B92B93-1812-4130-AA57-D6571D0D0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2D8DD-DEAD-4899-B902-1E5790776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912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5E61787-FE9E-4FE9-A010-6B530E998B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EE92339-B6A0-447C-AB14-4D20F261FA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6FA3B6-122A-4CE5-A221-E75EDF207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5C556-4A7D-48A3-A705-AA206DD6220E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1E665E-3BD1-4648-A919-96D02C481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A7487B-806E-4AF4-9CF8-F054910A5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2D8DD-DEAD-4899-B902-1E5790776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336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21E6C1E-0608-4951-9DDD-C38570FFD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9059AA-3791-4026-83D6-1B7145F8B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AE7CD4-B441-4647-9CBB-5CD6E06414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5C556-4A7D-48A3-A705-AA206DD6220E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B1AC6F-7425-461C-A0A5-9CFFCE128B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BBDD30-CEF1-4C9D-A71D-F2D0667BB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2D8DD-DEAD-4899-B902-1E5790776E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02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32E5F1-1A5D-4823-AE01-EC4BE5FF7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5158" y="1122363"/>
            <a:ext cx="10338098" cy="2387600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Comparison of different methods to add Gaussian noise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6801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95644B8-8641-4342-B984-6BB665CA8DE9}"/>
              </a:ext>
            </a:extLst>
          </p:cNvPr>
          <p:cNvSpPr txBox="1"/>
          <p:nvPr/>
        </p:nvSpPr>
        <p:spPr>
          <a:xfrm>
            <a:off x="1007165" y="728869"/>
            <a:ext cx="10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awgn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6C9982-777D-46DD-83F8-3BDE995E495E}"/>
              </a:ext>
            </a:extLst>
          </p:cNvPr>
          <p:cNvSpPr txBox="1"/>
          <p:nvPr/>
        </p:nvSpPr>
        <p:spPr>
          <a:xfrm>
            <a:off x="1007165" y="1411355"/>
            <a:ext cx="103764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0" i="0" dirty="0">
                <a:effectLst/>
                <a:latin typeface="Menlo"/>
              </a:rPr>
              <a:t>y= I;</a:t>
            </a:r>
          </a:p>
          <a:p>
            <a:r>
              <a:rPr lang="en-US" altLang="zh-CN" sz="1800" b="0" i="0" dirty="0" err="1">
                <a:effectLst/>
                <a:latin typeface="Menlo"/>
              </a:rPr>
              <a:t>yMatrix</a:t>
            </a:r>
            <a:r>
              <a:rPr lang="en-US" altLang="zh-CN" sz="1800" b="0" i="0" dirty="0">
                <a:effectLst/>
                <a:latin typeface="Menlo"/>
              </a:rPr>
              <a:t>= </a:t>
            </a:r>
            <a:r>
              <a:rPr lang="en-US" altLang="zh-CN" sz="1800" b="0" i="0" dirty="0" err="1">
                <a:effectLst/>
                <a:latin typeface="Menlo"/>
              </a:rPr>
              <a:t>repmat</a:t>
            </a:r>
            <a:r>
              <a:rPr lang="en-US" altLang="zh-CN" sz="1800" b="0" i="0" dirty="0">
                <a:effectLst/>
                <a:latin typeface="Menlo"/>
              </a:rPr>
              <a:t>(y,[1,repeatedNum]);</a:t>
            </a:r>
          </a:p>
          <a:p>
            <a:r>
              <a:rPr lang="en-US" altLang="zh-CN" sz="1800" b="0" i="0" dirty="0" err="1">
                <a:effectLst/>
                <a:latin typeface="Menlo"/>
              </a:rPr>
              <a:t>yMatrix_Gaussian</a:t>
            </a:r>
            <a:r>
              <a:rPr lang="en-US" altLang="zh-CN" sz="1800" b="0" i="0" dirty="0">
                <a:effectLst/>
                <a:latin typeface="Menlo"/>
              </a:rPr>
              <a:t>= awgn(yMatrix,10^(SNR/10),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800" b="0" i="0" dirty="0" err="1">
                <a:solidFill>
                  <a:srgbClr val="A709F5"/>
                </a:solidFill>
                <a:effectLst/>
                <a:latin typeface="Menlo"/>
              </a:rPr>
              <a:t>measured'</a:t>
            </a:r>
            <a:r>
              <a:rPr lang="en-US" altLang="zh-CN" sz="1800" b="0" i="0" dirty="0" err="1">
                <a:effectLst/>
                <a:latin typeface="Menlo"/>
              </a:rPr>
              <a:t>,</a:t>
            </a:r>
            <a:r>
              <a:rPr lang="en-US" altLang="zh-CN" sz="1800" b="0" i="0" dirty="0" err="1">
                <a:solidFill>
                  <a:srgbClr val="A709F5"/>
                </a:solidFill>
                <a:effectLst/>
                <a:latin typeface="Menlo"/>
              </a:rPr>
              <a:t>'linear</a:t>
            </a:r>
            <a:r>
              <a:rPr lang="en-US" altLang="zh-CN" sz="1800" b="0" i="0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1800" b="0" i="0" dirty="0">
                <a:effectLst/>
                <a:latin typeface="Menlo"/>
              </a:rPr>
              <a:t>); </a:t>
            </a:r>
            <a:r>
              <a:rPr lang="en-US" altLang="zh-CN" sz="18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</a:p>
          <a:p>
            <a:r>
              <a:rPr lang="en-US" altLang="zh-CN" sz="1800" b="0" i="0" dirty="0">
                <a:effectLst/>
                <a:latin typeface="Menlo"/>
              </a:rPr>
              <a:t>Imatrix= </a:t>
            </a:r>
            <a:r>
              <a:rPr lang="en-US" altLang="zh-CN" sz="1800" b="0" i="0" dirty="0" err="1">
                <a:effectLst/>
                <a:latin typeface="Menlo"/>
              </a:rPr>
              <a:t>yMatrix_Gaussian</a:t>
            </a:r>
            <a:r>
              <a:rPr lang="en-US" altLang="zh-CN" sz="1800" b="0" i="0" dirty="0">
                <a:effectLst/>
                <a:latin typeface="Menlo"/>
              </a:rPr>
              <a:t>;</a:t>
            </a:r>
          </a:p>
          <a:p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5D8B937-50F9-43D1-8797-78AF970D29B3}"/>
              </a:ext>
            </a:extLst>
          </p:cNvPr>
          <p:cNvSpPr txBox="1"/>
          <p:nvPr/>
        </p:nvSpPr>
        <p:spPr>
          <a:xfrm>
            <a:off x="1166191" y="398508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Menlo"/>
              </a:rPr>
              <a:t>e = </a:t>
            </a:r>
            <a:r>
              <a:rPr lang="en-US" altLang="zh-CN" dirty="0" err="1">
                <a:latin typeface="Menlo"/>
              </a:rPr>
              <a:t>randn</a:t>
            </a:r>
            <a:r>
              <a:rPr lang="en-US" altLang="zh-CN" dirty="0">
                <a:latin typeface="Menlo"/>
              </a:rPr>
              <a:t>(size(b));</a:t>
            </a:r>
          </a:p>
          <a:p>
            <a:r>
              <a:rPr lang="en-US" altLang="zh-CN" dirty="0">
                <a:latin typeface="Menlo"/>
              </a:rPr>
              <a:t>e = e/norm(e(:));</a:t>
            </a:r>
          </a:p>
          <a:p>
            <a:r>
              <a:rPr lang="en-US" altLang="zh-CN" dirty="0">
                <a:latin typeface="Menlo"/>
              </a:rPr>
              <a:t>e = </a:t>
            </a:r>
            <a:r>
              <a:rPr lang="en-US" altLang="zh-CN" dirty="0" err="1">
                <a:latin typeface="Menlo"/>
              </a:rPr>
              <a:t>rnl</a:t>
            </a:r>
            <a:r>
              <a:rPr lang="en-US" altLang="zh-CN" dirty="0">
                <a:latin typeface="Menlo"/>
              </a:rPr>
              <a:t>*norm(b(:))*e;</a:t>
            </a:r>
          </a:p>
          <a:p>
            <a:r>
              <a:rPr lang="en-US" altLang="zh-CN" dirty="0" err="1">
                <a:latin typeface="Menlo"/>
              </a:rPr>
              <a:t>bN</a:t>
            </a:r>
            <a:r>
              <a:rPr lang="en-US" altLang="zh-CN" dirty="0">
                <a:latin typeface="Menlo"/>
              </a:rPr>
              <a:t>= b + e;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2899FE-A057-43AD-BD9F-69429E0ED054}"/>
              </a:ext>
            </a:extLst>
          </p:cNvPr>
          <p:cNvSpPr txBox="1"/>
          <p:nvPr/>
        </p:nvSpPr>
        <p:spPr>
          <a:xfrm>
            <a:off x="887895" y="3294169"/>
            <a:ext cx="159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addgNoise</a:t>
            </a:r>
          </a:p>
        </p:txBody>
      </p:sp>
    </p:spTree>
    <p:extLst>
      <p:ext uri="{BB962C8B-B14F-4D97-AF65-F5344CB8AC3E}">
        <p14:creationId xmlns:p14="http://schemas.microsoft.com/office/powerpoint/2010/main" val="1537363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1DCA67CF-2AFF-4F04-9AD5-4E0B8E66142A}"/>
              </a:ext>
            </a:extLst>
          </p:cNvPr>
          <p:cNvSpPr txBox="1"/>
          <p:nvPr/>
        </p:nvSpPr>
        <p:spPr>
          <a:xfrm>
            <a:off x="1325216" y="1909178"/>
            <a:ext cx="719593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SNR(dB) = 10 * log10(P_signal / P_noise)</a:t>
            </a:r>
          </a:p>
          <a:p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P_signal= norm(</a:t>
            </a:r>
            <a:r>
              <a:rPr lang="en-US" altLang="zh-CN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INoisy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(:,1),2)^2;</a:t>
            </a:r>
          </a:p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P_noise= norm(e(:,1),2)^2;</a:t>
            </a:r>
          </a:p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SNR_dB= 10*log10(P_signal/P_noise)</a:t>
            </a:r>
          </a:p>
          <a:p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br>
              <a:rPr lang="en-US" altLang="zh-CN" sz="1800" b="0" i="0" dirty="0">
                <a:effectLst/>
                <a:latin typeface="Menlo"/>
              </a:rPr>
            </a:br>
            <a:endParaRPr lang="en-US" altLang="zh-CN" sz="1800" b="0" i="0" dirty="0">
              <a:effectLst/>
              <a:latin typeface="Menlo"/>
            </a:endParaRPr>
          </a:p>
          <a:p>
            <a:endParaRPr lang="en-US" altLang="zh-CN" sz="1800" b="0" i="0" dirty="0"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341292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FCF771A-EB9B-462D-8DA5-E9174DA36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34" y="1428750"/>
            <a:ext cx="5334000" cy="40005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EA96F73-AAC8-493A-A167-E0C18A5D7E69}"/>
              </a:ext>
            </a:extLst>
          </p:cNvPr>
          <p:cNvSpPr txBox="1"/>
          <p:nvPr/>
        </p:nvSpPr>
        <p:spPr>
          <a:xfrm>
            <a:off x="2840688" y="927652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awgn 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E1745B3-1813-4B50-B807-D54AE340F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968" y="1548019"/>
            <a:ext cx="5334000" cy="40005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E23447A-38F2-4544-AD5F-F5A7C33E349B}"/>
              </a:ext>
            </a:extLst>
          </p:cNvPr>
          <p:cNvSpPr txBox="1"/>
          <p:nvPr/>
        </p:nvSpPr>
        <p:spPr>
          <a:xfrm>
            <a:off x="8386723" y="1098310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addgNoise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70FB9D0-5CDE-40A7-AC23-A1ED0ED59130}"/>
              </a:ext>
            </a:extLst>
          </p:cNvPr>
          <p:cNvSpPr txBox="1"/>
          <p:nvPr/>
        </p:nvSpPr>
        <p:spPr>
          <a:xfrm>
            <a:off x="2093843" y="5628896"/>
            <a:ext cx="32202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SNR_dB =</a:t>
            </a:r>
          </a:p>
          <a:p>
            <a:endParaRPr lang="en-US" altLang="zh-CN" dirty="0"/>
          </a:p>
          <a:p>
            <a:r>
              <a:rPr lang="en-US" altLang="zh-CN" dirty="0"/>
              <a:t>   34.9108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51247FD-4853-4F3D-BD4D-9F880C21771A}"/>
              </a:ext>
            </a:extLst>
          </p:cNvPr>
          <p:cNvSpPr txBox="1"/>
          <p:nvPr/>
        </p:nvSpPr>
        <p:spPr>
          <a:xfrm>
            <a:off x="8336778" y="5628896"/>
            <a:ext cx="14643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SNR_dB =</a:t>
            </a:r>
          </a:p>
          <a:p>
            <a:endParaRPr lang="en-US" altLang="zh-CN" dirty="0"/>
          </a:p>
          <a:p>
            <a:r>
              <a:rPr lang="en-US" altLang="zh-CN" dirty="0"/>
              <a:t>   30.88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8EF1990-FA87-452F-8ED4-4CDC49DCD0A4}"/>
              </a:ext>
            </a:extLst>
          </p:cNvPr>
          <p:cNvSpPr txBox="1"/>
          <p:nvPr/>
        </p:nvSpPr>
        <p:spPr>
          <a:xfrm>
            <a:off x="5314122" y="344557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SNR= 35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3046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5EA96F73-AAC8-493A-A167-E0C18A5D7E69}"/>
              </a:ext>
            </a:extLst>
          </p:cNvPr>
          <p:cNvSpPr txBox="1"/>
          <p:nvPr/>
        </p:nvSpPr>
        <p:spPr>
          <a:xfrm>
            <a:off x="2840688" y="927652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awgn 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23447A-38F2-4544-AD5F-F5A7C33E349B}"/>
              </a:ext>
            </a:extLst>
          </p:cNvPr>
          <p:cNvSpPr txBox="1"/>
          <p:nvPr/>
        </p:nvSpPr>
        <p:spPr>
          <a:xfrm>
            <a:off x="8386722" y="1030968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addgNoise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70FB9D0-5CDE-40A7-AC23-A1ED0ED59130}"/>
              </a:ext>
            </a:extLst>
          </p:cNvPr>
          <p:cNvSpPr txBox="1"/>
          <p:nvPr/>
        </p:nvSpPr>
        <p:spPr>
          <a:xfrm>
            <a:off x="2093843" y="5628896"/>
            <a:ext cx="32202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SNR_dB =</a:t>
            </a:r>
          </a:p>
          <a:p>
            <a:endParaRPr lang="en-US" altLang="zh-CN" dirty="0"/>
          </a:p>
          <a:p>
            <a:r>
              <a:rPr lang="en-US" altLang="zh-CN" dirty="0"/>
              <a:t>   39.88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51247FD-4853-4F3D-BD4D-9F880C21771A}"/>
              </a:ext>
            </a:extLst>
          </p:cNvPr>
          <p:cNvSpPr txBox="1"/>
          <p:nvPr/>
        </p:nvSpPr>
        <p:spPr>
          <a:xfrm>
            <a:off x="8336778" y="5628896"/>
            <a:ext cx="14643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SNR_dB =</a:t>
            </a:r>
          </a:p>
          <a:p>
            <a:endParaRPr lang="en-US" altLang="zh-CN" dirty="0"/>
          </a:p>
          <a:p>
            <a:r>
              <a:rPr lang="en-US" altLang="zh-CN" dirty="0"/>
              <a:t>   32.05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09B419-032B-4B66-9419-D21ACB976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253" y="1428750"/>
            <a:ext cx="5334000" cy="40005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E1B88B6-D007-4F3B-BDAB-DF5ACF69F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96984"/>
            <a:ext cx="5334000" cy="40005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42321BF-8045-4A11-8DCD-C0B4FE4D0762}"/>
              </a:ext>
            </a:extLst>
          </p:cNvPr>
          <p:cNvSpPr txBox="1"/>
          <p:nvPr/>
        </p:nvSpPr>
        <p:spPr>
          <a:xfrm>
            <a:off x="5314122" y="278296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SNR=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8776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5EA96F73-AAC8-493A-A167-E0C18A5D7E69}"/>
              </a:ext>
            </a:extLst>
          </p:cNvPr>
          <p:cNvSpPr txBox="1"/>
          <p:nvPr/>
        </p:nvSpPr>
        <p:spPr>
          <a:xfrm>
            <a:off x="2840688" y="927652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awgn 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23447A-38F2-4544-AD5F-F5A7C33E349B}"/>
              </a:ext>
            </a:extLst>
          </p:cNvPr>
          <p:cNvSpPr txBox="1"/>
          <p:nvPr/>
        </p:nvSpPr>
        <p:spPr>
          <a:xfrm>
            <a:off x="8386722" y="1030968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addgNoise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70FB9D0-5CDE-40A7-AC23-A1ED0ED59130}"/>
              </a:ext>
            </a:extLst>
          </p:cNvPr>
          <p:cNvSpPr txBox="1"/>
          <p:nvPr/>
        </p:nvSpPr>
        <p:spPr>
          <a:xfrm>
            <a:off x="2093843" y="5628896"/>
            <a:ext cx="32202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SNR_dB =</a:t>
            </a:r>
          </a:p>
          <a:p>
            <a:endParaRPr lang="en-US" altLang="zh-CN" dirty="0"/>
          </a:p>
          <a:p>
            <a:r>
              <a:rPr lang="en-US" altLang="zh-CN" dirty="0"/>
              <a:t>   50.0933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51247FD-4853-4F3D-BD4D-9F880C21771A}"/>
              </a:ext>
            </a:extLst>
          </p:cNvPr>
          <p:cNvSpPr txBox="1"/>
          <p:nvPr/>
        </p:nvSpPr>
        <p:spPr>
          <a:xfrm>
            <a:off x="8336778" y="5628896"/>
            <a:ext cx="14643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SNR_dB =</a:t>
            </a:r>
          </a:p>
          <a:p>
            <a:endParaRPr lang="en-US" altLang="zh-CN" dirty="0"/>
          </a:p>
          <a:p>
            <a:r>
              <a:rPr lang="en-US" altLang="zh-CN" dirty="0"/>
              <a:t>   33.9785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2321BF-8045-4A11-8DCD-C0B4FE4D0762}"/>
              </a:ext>
            </a:extLst>
          </p:cNvPr>
          <p:cNvSpPr txBox="1"/>
          <p:nvPr/>
        </p:nvSpPr>
        <p:spPr>
          <a:xfrm>
            <a:off x="5314122" y="278296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SNR= 50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16EABB1-CDD4-4BA6-96CB-9A5D181F4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922" y="1400300"/>
            <a:ext cx="5334000" cy="40005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FBA6579-B287-40E4-AF56-82CC43380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83" y="1296984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064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195</Words>
  <Application>Microsoft Office PowerPoint</Application>
  <PresentationFormat>宽屏</PresentationFormat>
  <Paragraphs>46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Menlo</vt:lpstr>
      <vt:lpstr>等线</vt:lpstr>
      <vt:lpstr>等线 Light</vt:lpstr>
      <vt:lpstr>Arial</vt:lpstr>
      <vt:lpstr>Office 主题​​</vt:lpstr>
      <vt:lpstr>Comparison of different methods to add Gaussian noise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Comparison of different methods to add Gaussian noise</dc:title>
  <dc:creator>Chen</dc:creator>
  <cp:lastModifiedBy>Chen</cp:lastModifiedBy>
  <cp:revision>5</cp:revision>
  <dcterms:created xsi:type="dcterms:W3CDTF">2024-05-10T07:53:55Z</dcterms:created>
  <dcterms:modified xsi:type="dcterms:W3CDTF">2024-05-10T09:35:34Z</dcterms:modified>
</cp:coreProperties>
</file>